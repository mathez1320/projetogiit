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C3F7"/>
          </a:solidFill>
          <a:ln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984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4FC3F7"/>
                </a:solidFill>
                <a:latin typeface="Aptos"/>
              </a:rPr>
              <a:t>JAVASCRIPT  •  NODE.JS  •  BANCO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508760"/>
            <a:ext cx="7132320" cy="10972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Aptos"/>
              </a:rPr>
              <a:t>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786384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Criar, consultar, atualizar e excluir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01568"/>
            <a:ext cx="7223760" cy="8686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0">
                <a:solidFill>
                  <a:srgbClr val="D3E1EF"/>
                </a:solidFill>
                <a:latin typeface="Aptos"/>
              </a:rPr>
              <a:t>Aprenda a construir uma API simples para gerenciar um cadastro de alunos.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417320"/>
            <a:ext cx="1234440" cy="1051560"/>
          </a:xfrm>
          <a:prstGeom prst="roundRect">
            <a:avLst>
              <a:gd name="adj" fmla="val 12000"/>
            </a:avLst>
          </a:prstGeom>
          <a:solidFill>
            <a:srgbClr val="009664"/>
          </a:solidFill>
          <a:ln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527048"/>
            <a:ext cx="12344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167128"/>
            <a:ext cx="16002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CREATE • Criar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417320"/>
            <a:ext cx="1234440" cy="105156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1527048"/>
            <a:ext cx="12344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167128"/>
            <a:ext cx="16002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READ • Consultar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834640"/>
            <a:ext cx="1234440" cy="1051560"/>
          </a:xfrm>
          <a:prstGeom prst="roundRect">
            <a:avLst>
              <a:gd name="adj" fmla="val 12000"/>
            </a:avLst>
          </a:prstGeom>
          <a:solidFill>
            <a:srgbClr val="EB9114"/>
          </a:solidFill>
          <a:ln>
            <a:solidFill>
              <a:srgbClr val="EB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944368"/>
            <a:ext cx="12344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3584448"/>
            <a:ext cx="16002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UPDATE • Atualizar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2834640"/>
            <a:ext cx="1234440" cy="1051560"/>
          </a:xfrm>
          <a:prstGeom prst="roundRect">
            <a:avLst>
              <a:gd name="adj" fmla="val 12000"/>
            </a:avLst>
          </a:prstGeom>
          <a:solidFill>
            <a:srgbClr val="DC3741"/>
          </a:solidFill>
          <a:ln>
            <a:solidFill>
              <a:srgbClr val="DC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2944368"/>
            <a:ext cx="12344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584448"/>
            <a:ext cx="16002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DELETE • Excluir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Aptos"/>
              </a:rPr>
              <a:t>Exemplo prático: cadastro de alunos usando Node.js + Express + 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7082"/>
                </a:solidFill>
                <a:latin typeface="Aptos"/>
              </a:rPr>
              <a:t>CRUD com Node.js • Material didático para iniciantes                            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4241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082341"/>
                </a:solidFill>
                <a:latin typeface="Aptos"/>
              </a:rPr>
              <a:t>O que é CRUD?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5F7082"/>
                </a:solidFill>
                <a:latin typeface="Aptos"/>
              </a:rPr>
              <a:t>As quatro operações fundamentais para manipular informações.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EFF6FC"/>
          </a:solidFill>
          <a:ln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1892808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009664"/>
          </a:solidFill>
          <a:ln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20240"/>
            <a:ext cx="82296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20240"/>
            <a:ext cx="3749039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09664"/>
                </a:solidFill>
                <a:latin typeface="Aptos"/>
              </a:rPr>
              <a:t>CREATE — Criar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404872"/>
            <a:ext cx="37947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192A3E"/>
                </a:solidFill>
                <a:latin typeface="Aptos"/>
              </a:rPr>
              <a:t>Cadastrar um novo aluno.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91640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EFF6FC"/>
          </a:solidFill>
          <a:ln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65392" y="1892808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920240"/>
            <a:ext cx="82296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920240"/>
            <a:ext cx="3749039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070C0"/>
                </a:solidFill>
                <a:latin typeface="Aptos"/>
              </a:rPr>
              <a:t>READ — Consultar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404872"/>
            <a:ext cx="37947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192A3E"/>
                </a:solidFill>
                <a:latin typeface="Aptos"/>
              </a:rPr>
              <a:t>Listar alunos ou buscar um aluno específico.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EFF6FC"/>
          </a:solidFill>
          <a:ln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0392" y="3767328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EB9114"/>
          </a:solidFill>
          <a:ln>
            <a:solidFill>
              <a:srgbClr val="EB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3794760"/>
            <a:ext cx="82296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794760"/>
            <a:ext cx="3749039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EB9114"/>
                </a:solidFill>
                <a:latin typeface="Aptos"/>
              </a:rPr>
              <a:t>UPDATE — Atualizar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279392"/>
            <a:ext cx="37947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192A3E"/>
                </a:solidFill>
                <a:latin typeface="Aptos"/>
              </a:rPr>
              <a:t>Editar nome, e-mail ou idade de um aluno.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566160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EFF6FC"/>
          </a:solidFill>
          <a:ln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65392" y="3767328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DC3741"/>
          </a:solidFill>
          <a:ln>
            <a:solidFill>
              <a:srgbClr val="DC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3794760"/>
            <a:ext cx="82296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794760"/>
            <a:ext cx="3749039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DC3741"/>
                </a:solidFill>
                <a:latin typeface="Aptos"/>
              </a:rPr>
              <a:t>DELETE — Excluir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279392"/>
            <a:ext cx="37947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192A3E"/>
                </a:solidFill>
                <a:latin typeface="Aptos"/>
              </a:rPr>
              <a:t>Remover um registro quando necessário.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23560"/>
            <a:ext cx="10698480" cy="502920"/>
          </a:xfrm>
          <a:prstGeom prst="roundRect">
            <a:avLst>
              <a:gd name="adj" fmla="val 12000"/>
            </a:avLst>
          </a:prstGeom>
          <a:solidFill>
            <a:srgbClr val="DEF1FC"/>
          </a:solidFill>
          <a:ln>
            <a:solidFill>
              <a:srgbClr val="DE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696712"/>
            <a:ext cx="102412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082341"/>
                </a:solidFill>
                <a:latin typeface="Aptos"/>
              </a:rPr>
              <a:t>Pense em um sistema escolar: cadastrar, visualizar, corrigir e remover alunos.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7082"/>
                </a:solidFill>
                <a:latin typeface="Aptos"/>
              </a:rPr>
              <a:t>CRUD com Node.js • Material didático para iniciantes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4241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082341"/>
                </a:solidFill>
                <a:latin typeface="Aptos"/>
              </a:rPr>
              <a:t>Como funciona uma API CRUD?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5F7082"/>
                </a:solidFill>
                <a:latin typeface="Aptos"/>
              </a:rPr>
              <a:t>O cliente envia uma requisição; o servidor valida, acessa o banco e responde.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2331720" cy="1508760"/>
          </a:xfrm>
          <a:prstGeom prst="roundRect">
            <a:avLst>
              <a:gd name="adj" fmla="val 12000"/>
            </a:avLst>
          </a:prstGeom>
          <a:solidFill>
            <a:srgbClr val="EFF6FC"/>
          </a:solidFill>
          <a:ln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17319" y="1600200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19" y="1673352"/>
            <a:ext cx="731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2057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900" b="1">
                <a:solidFill>
                  <a:srgbClr val="082341"/>
                </a:solidFill>
                <a:latin typeface="Aptos"/>
              </a:rPr>
              <a:t>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205740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5F7082"/>
                </a:solidFill>
                <a:latin typeface="Aptos"/>
              </a:rPr>
              <a:t>Navegador ou Postman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542032"/>
            <a:ext cx="457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0070C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2103120"/>
            <a:ext cx="2331720" cy="1508760"/>
          </a:xfrm>
          <a:prstGeom prst="roundRect">
            <a:avLst>
              <a:gd name="adj" fmla="val 12000"/>
            </a:avLst>
          </a:prstGeom>
          <a:solidFill>
            <a:srgbClr val="EFF6FC"/>
          </a:solidFill>
          <a:ln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79" y="1600200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673352"/>
            <a:ext cx="731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599" y="2331720"/>
            <a:ext cx="2057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900" b="1">
                <a:solidFill>
                  <a:srgbClr val="082341"/>
                </a:solidFill>
                <a:latin typeface="Aptos"/>
              </a:rPr>
              <a:t>API Node.js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599" y="2788920"/>
            <a:ext cx="205740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5F7082"/>
                </a:solidFill>
                <a:latin typeface="Aptos"/>
              </a:rPr>
              <a:t>Recebe a rota HTTP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2542032"/>
            <a:ext cx="457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0070C0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103120"/>
            <a:ext cx="2331720" cy="1508760"/>
          </a:xfrm>
          <a:prstGeom prst="roundRect">
            <a:avLst>
              <a:gd name="adj" fmla="val 12000"/>
            </a:avLst>
          </a:prstGeom>
          <a:solidFill>
            <a:srgbClr val="EFF6FC"/>
          </a:solidFill>
          <a:ln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78040" y="1600200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673352"/>
            <a:ext cx="731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331720"/>
            <a:ext cx="2057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900" b="1">
                <a:solidFill>
                  <a:srgbClr val="082341"/>
                </a:solidFill>
                <a:latin typeface="Aptos"/>
              </a:rPr>
              <a:t>Banco de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788920"/>
            <a:ext cx="205740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5F7082"/>
                </a:solidFill>
                <a:latin typeface="Aptos"/>
              </a:rPr>
              <a:t>Executa 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542032"/>
            <a:ext cx="457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0070C0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59" y="2103120"/>
            <a:ext cx="2331720" cy="1508760"/>
          </a:xfrm>
          <a:prstGeom prst="roundRect">
            <a:avLst>
              <a:gd name="adj" fmla="val 12000"/>
            </a:avLst>
          </a:prstGeom>
          <a:solidFill>
            <a:srgbClr val="EFF6FC"/>
          </a:solidFill>
          <a:ln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399" y="1600200"/>
            <a:ext cx="731520" cy="731520"/>
          </a:xfrm>
          <a:prstGeom prst="roundRect">
            <a:avLst>
              <a:gd name="adj" fmla="val 12000"/>
            </a:avLst>
          </a:prstGeom>
          <a:solidFill>
            <a:srgbClr val="009664"/>
          </a:solidFill>
          <a:ln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399" y="1673352"/>
            <a:ext cx="731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2331720"/>
            <a:ext cx="2057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900" b="1">
                <a:solidFill>
                  <a:srgbClr val="082341"/>
                </a:solidFill>
                <a:latin typeface="Aptos"/>
              </a:rPr>
              <a:t>Resposta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2788920"/>
            <a:ext cx="205740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0">
                <a:solidFill>
                  <a:srgbClr val="5F7082"/>
                </a:solidFill>
                <a:latin typeface="Aptos"/>
              </a:rPr>
              <a:t>Retorna JSON e 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4251960"/>
            <a:ext cx="10149840" cy="1097280"/>
          </a:xfrm>
          <a:prstGeom prst="roundRect">
            <a:avLst>
              <a:gd name="adj" fmla="val 12000"/>
            </a:avLst>
          </a:prstGeom>
          <a:solidFill>
            <a:srgbClr val="0C1F30"/>
          </a:solidFill>
          <a:ln>
            <a:solidFill>
              <a:srgbClr val="0C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52144" y="4361688"/>
            <a:ext cx="9857232" cy="8778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CAE8FA"/>
                </a:solidFill>
                <a:latin typeface="Consolas"/>
              </a:defRPr>
            </a:pPr>
            <a:r>
              <a:t>GET /alunos  →  servidor consulta o banco  →  200 OK + 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69280"/>
            <a:ext cx="10241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082341"/>
                </a:solidFill>
                <a:latin typeface="Aptos"/>
              </a:rPr>
              <a:t>HTTP define como conversar; SQL define como consultar e alterar os dados.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7082"/>
                </a:solidFill>
                <a:latin typeface="Aptos"/>
              </a:rPr>
              <a:t>CRUD com Node.js • Material didático para iniciantes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4241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082341"/>
                </a:solidFill>
                <a:latin typeface="Aptos"/>
              </a:rPr>
              <a:t>Preparando o ambiente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5F7082"/>
                </a:solidFill>
                <a:latin typeface="Aptos"/>
              </a:rPr>
              <a:t>Instale Node.js e MySQL; depois crie o projeto e instale as dependências.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256032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070C0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645920"/>
            <a:ext cx="10222992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192A3E"/>
                </a:solidFill>
                <a:latin typeface="Aptos"/>
              </a:rPr>
              <a:t>1. Crie uma pasta para o projeto.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10149840" cy="658368"/>
          </a:xfrm>
          <a:prstGeom prst="roundRect">
            <a:avLst>
              <a:gd name="adj" fmla="val 12000"/>
            </a:avLst>
          </a:prstGeom>
          <a:solidFill>
            <a:srgbClr val="0C1F30"/>
          </a:solidFill>
          <a:ln>
            <a:solidFill>
              <a:srgbClr val="0C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167128"/>
            <a:ext cx="9857232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mkdir crud-alunos</a:t>
            </a:r>
          </a:p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cd crud-alunos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256032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070C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926080"/>
            <a:ext cx="10222992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192A3E"/>
                </a:solidFill>
                <a:latin typeface="Aptos"/>
              </a:rPr>
              <a:t>2. Inicialize o projeto e instale os pacotes.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37560"/>
            <a:ext cx="10149840" cy="868680"/>
          </a:xfrm>
          <a:prstGeom prst="roundRect">
            <a:avLst>
              <a:gd name="adj" fmla="val 12000"/>
            </a:avLst>
          </a:prstGeom>
          <a:solidFill>
            <a:srgbClr val="0C1F30"/>
          </a:solidFill>
          <a:ln>
            <a:solidFill>
              <a:srgbClr val="0C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447288"/>
            <a:ext cx="9857232" cy="6492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npm init -y</a:t>
            </a:r>
          </a:p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npm install express mysql2 dotenv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256032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0070C0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480560"/>
            <a:ext cx="10222992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192A3E"/>
                </a:solidFill>
                <a:latin typeface="Aptos"/>
              </a:rPr>
              <a:t>3. Crie o arquivo app.js e configure o servidor.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892040"/>
            <a:ext cx="10149840" cy="1005840"/>
          </a:xfrm>
          <a:prstGeom prst="roundRect">
            <a:avLst>
              <a:gd name="adj" fmla="val 12000"/>
            </a:avLst>
          </a:prstGeom>
          <a:solidFill>
            <a:srgbClr val="0C1F30"/>
          </a:solidFill>
          <a:ln>
            <a:solidFill>
              <a:srgbClr val="0C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5001768"/>
            <a:ext cx="9857232" cy="7863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CAE8FA"/>
                </a:solidFill>
                <a:latin typeface="Consolas"/>
              </a:defRPr>
            </a:pPr>
            <a:r>
              <a:t>const express = require('express');</a:t>
            </a:r>
          </a:p>
          <a:p>
            <a:pPr>
              <a:spcAft>
                <a:spcPts val="100"/>
              </a:spcAft>
              <a:defRPr sz="1400">
                <a:solidFill>
                  <a:srgbClr val="CAE8FA"/>
                </a:solidFill>
                <a:latin typeface="Consolas"/>
              </a:defRPr>
            </a:pPr>
            <a:r>
              <a:t>const app = express();</a:t>
            </a:r>
          </a:p>
          <a:p>
            <a:pPr>
              <a:spcAft>
                <a:spcPts val="100"/>
              </a:spcAft>
              <a:defRPr sz="1400">
                <a:solidFill>
                  <a:srgbClr val="CAE8FA"/>
                </a:solidFill>
                <a:latin typeface="Consolas"/>
              </a:defRPr>
            </a:pPr>
            <a:r>
              <a:t>app.use(express.json());</a:t>
            </a:r>
          </a:p>
          <a:p>
            <a:pPr>
              <a:spcAft>
                <a:spcPts val="100"/>
              </a:spcAft>
              <a:defRPr sz="1400">
                <a:solidFill>
                  <a:srgbClr val="CAE8FA"/>
                </a:solidFill>
                <a:latin typeface="Consolas"/>
              </a:defRPr>
            </a:pPr>
            <a:r>
              <a:t>app.listen(3000, () =&gt; console.log('API em http://localhost:3000'));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7082"/>
                </a:solidFill>
                <a:latin typeface="Aptos"/>
              </a:rPr>
              <a:t>CRUD com Node.js • Material didático para iniciantes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4241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082341"/>
                </a:solidFill>
                <a:latin typeface="Aptos"/>
              </a:rPr>
              <a:t>Criando o banco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5F7082"/>
                </a:solidFill>
                <a:latin typeface="Aptos"/>
              </a:rPr>
              <a:t>Exemplo em MySQL: uma tabela simples de alunos.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6720840" cy="3337560"/>
          </a:xfrm>
          <a:prstGeom prst="roundRect">
            <a:avLst>
              <a:gd name="adj" fmla="val 12000"/>
            </a:avLst>
          </a:prstGeom>
          <a:solidFill>
            <a:srgbClr val="0C1F30"/>
          </a:solidFill>
          <a:ln>
            <a:solidFill>
              <a:srgbClr val="0C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09928"/>
            <a:ext cx="6428231" cy="31181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700">
                <a:solidFill>
                  <a:srgbClr val="CAE8FA"/>
                </a:solidFill>
                <a:latin typeface="Consolas"/>
              </a:defRPr>
            </a:pPr>
            <a:r>
              <a:t>CREATE DATABASE escola;</a:t>
            </a:r>
          </a:p>
          <a:p>
            <a:pPr>
              <a:spcAft>
                <a:spcPts val="100"/>
              </a:spcAft>
              <a:defRPr sz="1700">
                <a:solidFill>
                  <a:srgbClr val="CAE8FA"/>
                </a:solidFill>
                <a:latin typeface="Consolas"/>
              </a:defRPr>
            </a:pPr>
            <a:r>
              <a:t>USE escola;</a:t>
            </a:r>
          </a:p>
          <a:p>
            <a:pPr>
              <a:spcAft>
                <a:spcPts val="100"/>
              </a:spcAft>
              <a:defRPr sz="1700">
                <a:solidFill>
                  <a:srgbClr val="CAE8FA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700">
                <a:solidFill>
                  <a:srgbClr val="CAE8FA"/>
                </a:solidFill>
                <a:latin typeface="Consolas"/>
              </a:defRPr>
            </a:pPr>
            <a:r>
              <a:t>CREATE TABLE alunos (</a:t>
            </a:r>
          </a:p>
          <a:p>
            <a:pPr>
              <a:spcAft>
                <a:spcPts val="100"/>
              </a:spcAft>
              <a:defRPr sz="1700">
                <a:solidFill>
                  <a:srgbClr val="CAE8FA"/>
                </a:solidFill>
                <a:latin typeface="Consolas"/>
              </a:defRPr>
            </a:pPr>
            <a:r>
              <a:t>  id INT AUTO_INCREMENT PRIMARY KEY,</a:t>
            </a:r>
          </a:p>
          <a:p>
            <a:pPr>
              <a:spcAft>
                <a:spcPts val="100"/>
              </a:spcAft>
              <a:defRPr sz="1700">
                <a:solidFill>
                  <a:srgbClr val="CAE8FA"/>
                </a:solidFill>
                <a:latin typeface="Consolas"/>
              </a:defRPr>
            </a:pPr>
            <a:r>
              <a:t>  nome VARCHAR(100) NOT NULL,</a:t>
            </a:r>
          </a:p>
          <a:p>
            <a:pPr>
              <a:spcAft>
                <a:spcPts val="100"/>
              </a:spcAft>
              <a:defRPr sz="1700">
                <a:solidFill>
                  <a:srgbClr val="CAE8FA"/>
                </a:solidFill>
                <a:latin typeface="Consolas"/>
              </a:defRPr>
            </a:pPr>
            <a:r>
              <a:t>  email VARCHAR(150) NOT NULL,</a:t>
            </a:r>
          </a:p>
          <a:p>
            <a:pPr>
              <a:spcAft>
                <a:spcPts val="100"/>
              </a:spcAft>
              <a:defRPr sz="1700">
                <a:solidFill>
                  <a:srgbClr val="CAE8FA"/>
                </a:solidFill>
                <a:latin typeface="Consolas"/>
              </a:defRPr>
            </a:pPr>
            <a:r>
              <a:t>  idade INT NOT NULL</a:t>
            </a:r>
          </a:p>
          <a:p>
            <a:pPr>
              <a:spcAft>
                <a:spcPts val="100"/>
              </a:spcAft>
              <a:defRPr sz="1700">
                <a:solidFill>
                  <a:srgbClr val="CAE8FA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645920"/>
            <a:ext cx="3566160" cy="3154680"/>
          </a:xfrm>
          <a:prstGeom prst="roundRect">
            <a:avLst>
              <a:gd name="adj" fmla="val 12000"/>
            </a:avLst>
          </a:prstGeom>
          <a:solidFill>
            <a:srgbClr val="EFF6FC"/>
          </a:solidFill>
          <a:ln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920240"/>
            <a:ext cx="30175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082341"/>
                </a:solidFill>
                <a:latin typeface="Aptos"/>
              </a:rPr>
              <a:t>O que cada campo representa?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560320"/>
            <a:ext cx="256032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0070C0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2560320"/>
            <a:ext cx="2724912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192A3E"/>
                </a:solidFill>
                <a:latin typeface="Aptos"/>
              </a:rPr>
              <a:t>id: identificador único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154680"/>
            <a:ext cx="256032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0070C0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3154680"/>
            <a:ext cx="2724912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192A3E"/>
                </a:solidFill>
                <a:latin typeface="Aptos"/>
              </a:rPr>
              <a:t>nome: nome do aluno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749039"/>
            <a:ext cx="256032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0070C0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3749039"/>
            <a:ext cx="2724912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192A3E"/>
                </a:solidFill>
                <a:latin typeface="Aptos"/>
              </a:rPr>
              <a:t>email: contato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343400"/>
            <a:ext cx="256032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0070C0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4343400"/>
            <a:ext cx="2724912" cy="530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192A3E"/>
                </a:solidFill>
                <a:latin typeface="Aptos"/>
              </a:rPr>
              <a:t>idade: idade em anos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49240"/>
            <a:ext cx="104241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DC3741"/>
                </a:solidFill>
                <a:latin typeface="Aptos"/>
              </a:rPr>
              <a:t>Importante: credenciais do banco devem ficar em variáveis de ambiente, nunca publicadas no Git.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7082"/>
                </a:solidFill>
                <a:latin typeface="Aptos"/>
              </a:rPr>
              <a:t>CRUD com Node.js • Material didático para iniciantes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4241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082341"/>
                </a:solidFill>
                <a:latin typeface="Aptos"/>
              </a:rPr>
              <a:t>Conectando o Node.js ao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5F7082"/>
                </a:solidFill>
                <a:latin typeface="Aptos"/>
              </a:rPr>
              <a:t>Crie config/db.js para centralizar a conexão.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6812280" cy="4023360"/>
          </a:xfrm>
          <a:prstGeom prst="roundRect">
            <a:avLst>
              <a:gd name="adj" fmla="val 12000"/>
            </a:avLst>
          </a:prstGeom>
          <a:solidFill>
            <a:srgbClr val="0C1F30"/>
          </a:solidFill>
          <a:ln>
            <a:solidFill>
              <a:srgbClr val="0C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09928"/>
            <a:ext cx="6519672" cy="3803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// config/db.js</a:t>
            </a:r>
          </a:p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const mysql = require('mysql2/promise');</a:t>
            </a:r>
          </a:p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require('dotenv').config();</a:t>
            </a:r>
          </a:p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const db = mysql.createPool({</a:t>
            </a:r>
          </a:p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  host: process.env.DB_HOST,</a:t>
            </a:r>
          </a:p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  user: process.env.DB_USER,</a:t>
            </a:r>
          </a:p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  password: process.env.DB_PASSWORD,</a:t>
            </a:r>
          </a:p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  database: process.env.DB_NAME,</a:t>
            </a:r>
          </a:p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  waitForConnections: true,</a:t>
            </a:r>
          </a:p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  connectionLimit: 10</a:t>
            </a:r>
          </a:p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});</a:t>
            </a:r>
          </a:p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500">
                <a:solidFill>
                  <a:srgbClr val="CAE8FA"/>
                </a:solidFill>
                <a:latin typeface="Consolas"/>
              </a:defRPr>
            </a:pPr>
            <a:r>
              <a:t>module.exports = db;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64592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EFF6FC"/>
          </a:solidFill>
          <a:ln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920240"/>
            <a:ext cx="2834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082341"/>
                </a:solidFill>
                <a:latin typeface="Aptos"/>
              </a:rPr>
              <a:t>Arquivo .env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423160"/>
            <a:ext cx="2971800" cy="1234440"/>
          </a:xfrm>
          <a:prstGeom prst="roundRect">
            <a:avLst>
              <a:gd name="adj" fmla="val 12000"/>
            </a:avLst>
          </a:prstGeom>
          <a:solidFill>
            <a:srgbClr val="0C1F30"/>
          </a:solidFill>
          <a:ln>
            <a:solidFill>
              <a:srgbClr val="0C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2532888"/>
            <a:ext cx="2679192" cy="10149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DB_HOST=localhost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DB_USER=seu_usuario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DB_PASSWORD=sua_senha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DB_NAME=escola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4297680"/>
            <a:ext cx="310896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DC3741"/>
                </a:solidFill>
                <a:latin typeface="Aptos"/>
              </a:rPr>
              <a:t>Não envie o .env para o repositório. Adicione-o ao .gitignore.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7082"/>
                </a:solidFill>
                <a:latin typeface="Aptos"/>
              </a:rPr>
              <a:t>CRUD com Node.js • Material didático para iniciantes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4241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082341"/>
                </a:solidFill>
                <a:latin typeface="Aptos"/>
              </a:rPr>
              <a:t>CREATE e 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5F7082"/>
                </a:solidFill>
                <a:latin typeface="Aptos"/>
              </a:rPr>
              <a:t>Cadastrar um aluno e listar os registros.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3035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900" b="1">
                <a:solidFill>
                  <a:srgbClr val="009664"/>
                </a:solidFill>
                <a:latin typeface="Aptos"/>
              </a:rPr>
              <a:t>CREATE — POST /alunos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440680" cy="3017520"/>
          </a:xfrm>
          <a:prstGeom prst="roundRect">
            <a:avLst>
              <a:gd name="adj" fmla="val 12000"/>
            </a:avLst>
          </a:prstGeom>
          <a:solidFill>
            <a:srgbClr val="0C1F30"/>
          </a:solidFill>
          <a:ln>
            <a:solidFill>
              <a:srgbClr val="0C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5148072" cy="27980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CAE8FA"/>
                </a:solidFill>
                <a:latin typeface="Consolas"/>
              </a:defRPr>
            </a:pPr>
            <a:r>
              <a:t>app.post('/alunos', async (req, res) =&gt; {</a:t>
            </a:r>
          </a:p>
          <a:p>
            <a:pPr>
              <a:spcAft>
                <a:spcPts val="100"/>
              </a:spcAft>
              <a:defRPr sz="1200">
                <a:solidFill>
                  <a:srgbClr val="CAE8FA"/>
                </a:solidFill>
                <a:latin typeface="Consolas"/>
              </a:defRPr>
            </a:pPr>
            <a:r>
              <a:t>  const { nome, email, idade } = req.body;</a:t>
            </a:r>
          </a:p>
          <a:p>
            <a:pPr>
              <a:spcAft>
                <a:spcPts val="100"/>
              </a:spcAft>
              <a:defRPr sz="1200">
                <a:solidFill>
                  <a:srgbClr val="CAE8FA"/>
                </a:solidFill>
                <a:latin typeface="Consolas"/>
              </a:defRPr>
            </a:pPr>
            <a:r>
              <a:t>  try {</a:t>
            </a:r>
          </a:p>
          <a:p>
            <a:pPr>
              <a:spcAft>
                <a:spcPts val="100"/>
              </a:spcAft>
              <a:defRPr sz="1200">
                <a:solidFill>
                  <a:srgbClr val="CAE8FA"/>
                </a:solidFill>
                <a:latin typeface="Consolas"/>
              </a:defRPr>
            </a:pPr>
            <a:r>
              <a:t>    const [result] = await db.execute(</a:t>
            </a:r>
          </a:p>
          <a:p>
            <a:pPr>
              <a:spcAft>
                <a:spcPts val="100"/>
              </a:spcAft>
              <a:defRPr sz="1200">
                <a:solidFill>
                  <a:srgbClr val="CAE8FA"/>
                </a:solidFill>
                <a:latin typeface="Consolas"/>
              </a:defRPr>
            </a:pPr>
            <a:r>
              <a:t>      'INSERT INTO alunos (nome, email, idade) VALUES (?, ?, ?)',</a:t>
            </a:r>
          </a:p>
          <a:p>
            <a:pPr>
              <a:spcAft>
                <a:spcPts val="100"/>
              </a:spcAft>
              <a:defRPr sz="1200">
                <a:solidFill>
                  <a:srgbClr val="CAE8FA"/>
                </a:solidFill>
                <a:latin typeface="Consolas"/>
              </a:defRPr>
            </a:pPr>
            <a:r>
              <a:t>      [nome, email, idade]</a:t>
            </a:r>
          </a:p>
          <a:p>
            <a:pPr>
              <a:spcAft>
                <a:spcPts val="100"/>
              </a:spcAft>
              <a:defRPr sz="1200">
                <a:solidFill>
                  <a:srgbClr val="CAE8FA"/>
                </a:solidFill>
                <a:latin typeface="Consolas"/>
              </a:defRPr>
            </a:pPr>
            <a:r>
              <a:t>    );</a:t>
            </a:r>
          </a:p>
          <a:p>
            <a:pPr>
              <a:spcAft>
                <a:spcPts val="100"/>
              </a:spcAft>
              <a:defRPr sz="1200">
                <a:solidFill>
                  <a:srgbClr val="CAE8FA"/>
                </a:solidFill>
                <a:latin typeface="Consolas"/>
              </a:defRPr>
            </a:pPr>
            <a:r>
              <a:t>    res.status(201).json({ id: result.insertId });</a:t>
            </a:r>
          </a:p>
          <a:p>
            <a:pPr>
              <a:spcAft>
                <a:spcPts val="100"/>
              </a:spcAft>
              <a:defRPr sz="1200">
                <a:solidFill>
                  <a:srgbClr val="CAE8FA"/>
                </a:solidFill>
                <a:latin typeface="Consolas"/>
              </a:defRPr>
            </a:pPr>
            <a:r>
              <a:t>  } catch (err) {</a:t>
            </a:r>
          </a:p>
          <a:p>
            <a:pPr>
              <a:spcAft>
                <a:spcPts val="100"/>
              </a:spcAft>
              <a:defRPr sz="1200">
                <a:solidFill>
                  <a:srgbClr val="CAE8FA"/>
                </a:solidFill>
                <a:latin typeface="Consolas"/>
              </a:defRPr>
            </a:pPr>
            <a:r>
              <a:t>    res.status(500).json({ erro: 'Erro ao cadastrar' });</a:t>
            </a:r>
          </a:p>
          <a:p>
            <a:pPr>
              <a:spcAft>
                <a:spcPts val="100"/>
              </a:spcAft>
              <a:defRPr sz="1200">
                <a:solidFill>
                  <a:srgbClr val="CAE8FA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200">
                <a:solidFill>
                  <a:srgbClr val="CAE8FA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900" b="1">
                <a:solidFill>
                  <a:srgbClr val="0070C0"/>
                </a:solidFill>
                <a:latin typeface="Aptos"/>
              </a:rPr>
              <a:t>READ — GET /alunos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303520" cy="3017520"/>
          </a:xfrm>
          <a:prstGeom prst="roundRect">
            <a:avLst>
              <a:gd name="adj" fmla="val 12000"/>
            </a:avLst>
          </a:prstGeom>
          <a:solidFill>
            <a:srgbClr val="0C1F30"/>
          </a:solidFill>
          <a:ln>
            <a:solidFill>
              <a:srgbClr val="0C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2075688"/>
            <a:ext cx="5010912" cy="27980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CAE8FA"/>
                </a:solidFill>
                <a:latin typeface="Consolas"/>
              </a:defRPr>
            </a:pPr>
            <a:r>
              <a:t>app.get('/alunos', async (req, res) =&gt; {</a:t>
            </a:r>
          </a:p>
          <a:p>
            <a:pPr>
              <a:spcAft>
                <a:spcPts val="100"/>
              </a:spcAft>
              <a:defRPr sz="1300">
                <a:solidFill>
                  <a:srgbClr val="CAE8FA"/>
                </a:solidFill>
                <a:latin typeface="Consolas"/>
              </a:defRPr>
            </a:pPr>
            <a:r>
              <a:t>  try {</a:t>
            </a:r>
          </a:p>
          <a:p>
            <a:pPr>
              <a:spcAft>
                <a:spcPts val="100"/>
              </a:spcAft>
              <a:defRPr sz="1300">
                <a:solidFill>
                  <a:srgbClr val="CAE8FA"/>
                </a:solidFill>
                <a:latin typeface="Consolas"/>
              </a:defRPr>
            </a:pPr>
            <a:r>
              <a:t>    const [rows] = await db.execute(</a:t>
            </a:r>
          </a:p>
          <a:p>
            <a:pPr>
              <a:spcAft>
                <a:spcPts val="100"/>
              </a:spcAft>
              <a:defRPr sz="1300">
                <a:solidFill>
                  <a:srgbClr val="CAE8FA"/>
                </a:solidFill>
                <a:latin typeface="Consolas"/>
              </a:defRPr>
            </a:pPr>
            <a:r>
              <a:t>      'SELECT id, nome, email, idade FROM alunos'</a:t>
            </a:r>
          </a:p>
          <a:p>
            <a:pPr>
              <a:spcAft>
                <a:spcPts val="100"/>
              </a:spcAft>
              <a:defRPr sz="1300">
                <a:solidFill>
                  <a:srgbClr val="CAE8FA"/>
                </a:solidFill>
                <a:latin typeface="Consolas"/>
              </a:defRPr>
            </a:pPr>
            <a:r>
              <a:t>    );</a:t>
            </a:r>
          </a:p>
          <a:p>
            <a:pPr>
              <a:spcAft>
                <a:spcPts val="100"/>
              </a:spcAft>
              <a:defRPr sz="1300">
                <a:solidFill>
                  <a:srgbClr val="CAE8FA"/>
                </a:solidFill>
                <a:latin typeface="Consolas"/>
              </a:defRPr>
            </a:pPr>
            <a:r>
              <a:t>    res.json(rows);</a:t>
            </a:r>
          </a:p>
          <a:p>
            <a:pPr>
              <a:spcAft>
                <a:spcPts val="100"/>
              </a:spcAft>
              <a:defRPr sz="1300">
                <a:solidFill>
                  <a:srgbClr val="CAE8FA"/>
                </a:solidFill>
                <a:latin typeface="Consolas"/>
              </a:defRPr>
            </a:pPr>
            <a:r>
              <a:t>  } catch (err) {</a:t>
            </a:r>
          </a:p>
          <a:p>
            <a:pPr>
              <a:spcAft>
                <a:spcPts val="100"/>
              </a:spcAft>
              <a:defRPr sz="1300">
                <a:solidFill>
                  <a:srgbClr val="CAE8FA"/>
                </a:solidFill>
                <a:latin typeface="Consolas"/>
              </a:defRPr>
            </a:pPr>
            <a:r>
              <a:t>    res.status(500).json({ erro: 'Erro ao listar' });</a:t>
            </a:r>
          </a:p>
          <a:p>
            <a:pPr>
              <a:spcAft>
                <a:spcPts val="100"/>
              </a:spcAft>
              <a:defRPr sz="1300">
                <a:solidFill>
                  <a:srgbClr val="CAE8FA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300">
                <a:solidFill>
                  <a:srgbClr val="CAE8FA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49240"/>
            <a:ext cx="104241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082341"/>
                </a:solidFill>
                <a:latin typeface="Aptos"/>
              </a:rPr>
              <a:t>As interrogações (?) e os valores separados ajudam a evitar SQL Injection.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7082"/>
                </a:solidFill>
                <a:latin typeface="Aptos"/>
              </a:rPr>
              <a:t>CRUD com Node.js • Material didático para iniciantes                            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4241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082341"/>
                </a:solidFill>
                <a:latin typeface="Aptos"/>
              </a:rPr>
              <a:t>UPDATE e DELETE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5F7082"/>
                </a:solidFill>
                <a:latin typeface="Aptos"/>
              </a:rPr>
              <a:t>Alterar ou excluir usando o identificador do aluno.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53035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900" b="1">
                <a:solidFill>
                  <a:srgbClr val="EB9114"/>
                </a:solidFill>
                <a:latin typeface="Aptos"/>
              </a:rPr>
              <a:t>UPDATE — PUT /alunos/:id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440680" cy="3154680"/>
          </a:xfrm>
          <a:prstGeom prst="roundRect">
            <a:avLst>
              <a:gd name="adj" fmla="val 12000"/>
            </a:avLst>
          </a:prstGeom>
          <a:solidFill>
            <a:srgbClr val="0C1F30"/>
          </a:solidFill>
          <a:ln>
            <a:solidFill>
              <a:srgbClr val="0C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5148072" cy="29352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app.put('/alunos/:id', async (req, res) =&gt; {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const { nome, email, idade } = req.body;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const { id } = req.params;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try {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  const [result] = await db.execute(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    'UPDATE alunos SET nome=?, email=?, idade=? WHERE id=?',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    [nome, email, idade, id]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  );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  if (!result.affectedRows) return res.status(404).json({ erro: 'Não encontrado' });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  res.json({ mensagem: 'Aluno atualizado' });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} catch (err) { res.status(500).json({ erro: 'Erro ao atualizar' }); }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900" b="1">
                <a:solidFill>
                  <a:srgbClr val="DC3741"/>
                </a:solidFill>
                <a:latin typeface="Aptos"/>
              </a:rPr>
              <a:t>DELETE — DELETE /alunos/:id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303520" cy="3154680"/>
          </a:xfrm>
          <a:prstGeom prst="roundRect">
            <a:avLst>
              <a:gd name="adj" fmla="val 12000"/>
            </a:avLst>
          </a:prstGeom>
          <a:solidFill>
            <a:srgbClr val="0C1F30"/>
          </a:solidFill>
          <a:ln>
            <a:solidFill>
              <a:srgbClr val="0C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2075688"/>
            <a:ext cx="5010912" cy="29352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app.delete('/alunos/:id', async (req, res) =&gt; {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const { id } = req.params;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try {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  const [result] = await db.execute(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    'DELETE FROM alunos WHERE id = ?', [id]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  );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  if (!result.affectedRows) return res.status(404).json({ erro: 'Não encontrado' });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  res.json({ mensagem: 'Aluno excluído' });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  } catch (err) { res.status(500).json({ erro: 'Erro ao excluir' }); }</a:t>
            </a:r>
          </a:p>
          <a:p>
            <a:pPr>
              <a:spcAft>
                <a:spcPts val="100"/>
              </a:spcAft>
              <a:defRPr sz="1100">
                <a:solidFill>
                  <a:srgbClr val="CAE8FA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082341"/>
                </a:solidFill>
                <a:latin typeface="Aptos"/>
              </a:rPr>
              <a:t>Antes de excluir dados reais, confirme a ação e avalie regras de auditoria e recuperação.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7082"/>
                </a:solidFill>
                <a:latin typeface="Aptos"/>
              </a:rPr>
              <a:t>CRUD com Node.js • Material didático para iniciantes                            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38912"/>
            <a:ext cx="502920" cy="50292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5760"/>
            <a:ext cx="104241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082341"/>
                </a:solidFill>
                <a:latin typeface="Aptos"/>
              </a:rPr>
              <a:t>Testando com Postman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972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5F7082"/>
                </a:solidFill>
                <a:latin typeface="Aptos"/>
              </a:rPr>
              <a:t>Execute o servidor e envie requisições para validar as quatro operações.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657600" cy="685800"/>
          </a:xfrm>
          <a:prstGeom prst="roundRect">
            <a:avLst>
              <a:gd name="adj" fmla="val 12000"/>
            </a:avLst>
          </a:prstGeom>
          <a:solidFill>
            <a:srgbClr val="0C1F30"/>
          </a:solidFill>
          <a:ln>
            <a:solidFill>
              <a:srgbClr val="0C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64207"/>
            <a:ext cx="3364992" cy="4663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CAE8FA"/>
                </a:solidFill>
                <a:latin typeface="Consolas"/>
              </a:defRPr>
            </a:pPr>
            <a:r>
              <a:t>node app.js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009664"/>
          </a:solidFill>
          <a:ln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1234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542032"/>
            <a:ext cx="3931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082341"/>
                </a:solidFill>
                <a:latin typeface="Aptos"/>
              </a:rPr>
              <a:t>http://localhost:3000/alunos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42032"/>
            <a:ext cx="47548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5F7082"/>
                </a:solidFill>
                <a:latin typeface="Aptos"/>
              </a:rPr>
              <a:t>Body → raw → 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73552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19272"/>
            <a:ext cx="1234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300984"/>
            <a:ext cx="3931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082341"/>
                </a:solidFill>
                <a:latin typeface="Aptos"/>
              </a:rPr>
              <a:t>http://localhost:3000/alunos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00984"/>
            <a:ext cx="47548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5F7082"/>
                </a:solidFill>
                <a:latin typeface="Aptos"/>
              </a:rPr>
              <a:t>Lista todos os alunos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032504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EB9114"/>
          </a:solidFill>
          <a:ln>
            <a:solidFill>
              <a:srgbClr val="EB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78224"/>
            <a:ext cx="1234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059936"/>
            <a:ext cx="3931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082341"/>
                </a:solidFill>
                <a:latin typeface="Aptos"/>
              </a:rPr>
              <a:t>http://localhost:3000/alunos/1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59936"/>
            <a:ext cx="47548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5F7082"/>
                </a:solidFill>
                <a:latin typeface="Aptos"/>
              </a:rPr>
              <a:t>{"nome":"Ana","email":"ana@email.com","idade":21}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91456"/>
            <a:ext cx="1234440" cy="457200"/>
          </a:xfrm>
          <a:prstGeom prst="roundRect">
            <a:avLst>
              <a:gd name="adj" fmla="val 12000"/>
            </a:avLst>
          </a:prstGeom>
          <a:solidFill>
            <a:srgbClr val="DC3741"/>
          </a:solidFill>
          <a:ln>
            <a:solidFill>
              <a:srgbClr val="DC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37176"/>
            <a:ext cx="12344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818888"/>
            <a:ext cx="39319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082341"/>
                </a:solidFill>
                <a:latin typeface="Aptos"/>
              </a:rPr>
              <a:t>http://localhost:3000/alunos/1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18888"/>
            <a:ext cx="47548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5F7082"/>
                </a:solidFill>
                <a:latin typeface="Aptos"/>
              </a:rPr>
              <a:t>Exclui o aluno de id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715000"/>
            <a:ext cx="10515600" cy="502920"/>
          </a:xfrm>
          <a:prstGeom prst="roundRect">
            <a:avLst>
              <a:gd name="adj" fmla="val 12000"/>
            </a:avLst>
          </a:prstGeom>
          <a:solidFill>
            <a:srgbClr val="DEF1FC"/>
          </a:solidFill>
          <a:ln>
            <a:solidFill>
              <a:srgbClr val="DE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779008"/>
            <a:ext cx="101498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1">
                <a:solidFill>
                  <a:srgbClr val="082341"/>
                </a:solidFill>
                <a:latin typeface="Aptos"/>
              </a:rPr>
              <a:t>No POST e no PUT, envie JSON com nome, email e idade no corpo da requisição.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7082"/>
                </a:solidFill>
                <a:latin typeface="Aptos"/>
              </a:rPr>
              <a:t>CRUD com Node.js • Material didático para iniciantes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Resumo: CRUD na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4FC3F7"/>
                </a:solidFill>
                <a:latin typeface="Aptos"/>
              </a:rPr>
              <a:t>Cada operação combina um método HTTP, uma rota e uma ação no banco.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1965960" cy="475488"/>
          </a:xfrm>
          <a:prstGeom prst="roundRect">
            <a:avLst>
              <a:gd name="adj" fmla="val 12000"/>
            </a:avLst>
          </a:prstGeom>
          <a:solidFill>
            <a:srgbClr val="009664"/>
          </a:solidFill>
          <a:ln>
            <a:solidFill>
              <a:srgbClr val="0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7451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929384"/>
            <a:ext cx="13716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929384"/>
            <a:ext cx="237744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Aptos"/>
              </a:rPr>
              <a:t>/alunos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929384"/>
            <a:ext cx="38404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Inserir registro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1965960" cy="47548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33472"/>
            <a:ext cx="187451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615184"/>
            <a:ext cx="13716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15184"/>
            <a:ext cx="237744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Aptos"/>
              </a:rPr>
              <a:t>/alunos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615184"/>
            <a:ext cx="38404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Consultar registros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1965960" cy="475488"/>
          </a:xfrm>
          <a:prstGeom prst="roundRect">
            <a:avLst>
              <a:gd name="adj" fmla="val 12000"/>
            </a:avLst>
          </a:prstGeom>
          <a:solidFill>
            <a:srgbClr val="EB9114"/>
          </a:solidFill>
          <a:ln>
            <a:solidFill>
              <a:srgbClr val="EB91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319272"/>
            <a:ext cx="187451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300984"/>
            <a:ext cx="13716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00984"/>
            <a:ext cx="237744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Aptos"/>
              </a:rPr>
              <a:t>/alunos/:id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300984"/>
            <a:ext cx="38404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Alterar registro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1965960" cy="475488"/>
          </a:xfrm>
          <a:prstGeom prst="roundRect">
            <a:avLst>
              <a:gd name="adj" fmla="val 12000"/>
            </a:avLst>
          </a:prstGeom>
          <a:solidFill>
            <a:srgbClr val="DC3741"/>
          </a:solidFill>
          <a:ln>
            <a:solidFill>
              <a:srgbClr val="DC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05072"/>
            <a:ext cx="1874519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986783"/>
            <a:ext cx="13716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DELETE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86783"/>
            <a:ext cx="237744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4FC3F7"/>
                </a:solidFill>
                <a:latin typeface="Aptos"/>
              </a:rPr>
              <a:t>/alunos/:id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986783"/>
            <a:ext cx="38404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Excluir registro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83480"/>
            <a:ext cx="10652760" cy="777240"/>
          </a:xfrm>
          <a:prstGeom prst="roundRect">
            <a:avLst>
              <a:gd name="adj" fmla="val 12000"/>
            </a:avLst>
          </a:prstGeom>
          <a:solidFill>
            <a:srgbClr val="123957"/>
          </a:solidFill>
          <a:ln>
            <a:solidFill>
              <a:srgbClr val="123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120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Boas práticas: validar entradas • usar consultas parametrizadas • proteger credenciais • tratar erros • autenticar usuários.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80760"/>
            <a:ext cx="105156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4FC3F7"/>
                </a:solidFill>
                <a:latin typeface="Aptos"/>
              </a:rPr>
              <a:t>Desafio: implemente busca por ID e validação de e-mail. Bons códigos!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900" b="0">
                <a:solidFill>
                  <a:srgbClr val="5F7082"/>
                </a:solidFill>
                <a:latin typeface="Aptos"/>
              </a:rPr>
              <a:t>CRUD com Node.js • Material didático para iniciantes    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